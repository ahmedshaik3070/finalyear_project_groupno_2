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91" d="100"/>
          <a:sy n="91" d="100"/>
        </p:scale>
        <p:origin x="34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20/10/2024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20/10/2024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20/10/2024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20/10/2024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20/10/2024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20/10/2024</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16/j.jaad.2018.10.030" TargetMode="External"/><Relationship Id="rId2" Type="http://schemas.openxmlformats.org/officeDocument/2006/relationships/hyperlink" Target="https://doi.org/10.1111/pde.14127" TargetMode="External"/><Relationship Id="rId1" Type="http://schemas.openxmlformats.org/officeDocument/2006/relationships/slideLayout" Target="../slideLayouts/slideLayout2.xml"/><Relationship Id="rId6" Type="http://schemas.openxmlformats.org/officeDocument/2006/relationships/hyperlink" Target="https://doi.org/10.1016/j.det.2018.08.006" TargetMode="External"/><Relationship Id="rId5" Type="http://schemas.openxmlformats.org/officeDocument/2006/relationships/hyperlink" Target="https://doi.org/10.3389/fmed.2022.123456" TargetMode="External"/><Relationship Id="rId4" Type="http://schemas.openxmlformats.org/officeDocument/2006/relationships/hyperlink" Target="https://doi.org/10.4103/ijd.IJD_491_2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0469" y="1069102"/>
            <a:ext cx="10363200" cy="1470025"/>
          </a:xfrm>
        </p:spPr>
        <p:txBody>
          <a:bodyPr/>
          <a:lstStyle/>
          <a:p>
            <a:pPr algn="ctr"/>
            <a:r>
              <a:rPr lang="en-GB" sz="3200" dirty="0">
                <a:latin typeface="Times New Roman" panose="02020603050405020304" pitchFamily="18" charset="0"/>
                <a:cs typeface="Times New Roman" panose="02020603050405020304" pitchFamily="18" charset="0"/>
              </a:rPr>
              <a:t>PEDIATRIC TELE DERMATOLOGY</a:t>
            </a:r>
          </a:p>
        </p:txBody>
      </p:sp>
      <p:sp>
        <p:nvSpPr>
          <p:cNvPr id="3" name="Subtitle 2"/>
          <p:cNvSpPr>
            <a:spLocks noGrp="1"/>
          </p:cNvSpPr>
          <p:nvPr>
            <p:ph type="subTitle" idx="1"/>
          </p:nvPr>
        </p:nvSpPr>
        <p:spPr>
          <a:xfrm>
            <a:off x="790469" y="2721956"/>
            <a:ext cx="3970594" cy="552184"/>
          </a:xfrm>
        </p:spPr>
        <p:txBody>
          <a:bodyPr/>
          <a:lstStyle/>
          <a:p>
            <a:pPr algn="l"/>
            <a:r>
              <a:rPr lang="en-GB" dirty="0"/>
              <a:t>Batch Number:</a:t>
            </a:r>
          </a:p>
          <a:p>
            <a:pPr algn="l"/>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400608102"/>
              </p:ext>
            </p:extLst>
          </p:nvPr>
        </p:nvGraphicFramePr>
        <p:xfrm>
          <a:off x="769402" y="3274140"/>
          <a:ext cx="5418666" cy="2250440"/>
        </p:xfrm>
        <a:graphic>
          <a:graphicData uri="http://schemas.openxmlformats.org/drawingml/2006/table">
            <a:tbl>
              <a:tblPr firstRow="1" bandRow="1">
                <a:tableStyleId>{2D5ABB26-0587-4C30-8999-92F81FD0307C}</a:tableStyleId>
              </a:tblPr>
              <a:tblGrid>
                <a:gridCol w="2176464">
                  <a:extLst>
                    <a:ext uri="{9D8B030D-6E8A-4147-A177-3AD203B41FA5}">
                      <a16:colId xmlns:a16="http://schemas.microsoft.com/office/drawing/2014/main" val="3331634959"/>
                    </a:ext>
                  </a:extLst>
                </a:gridCol>
                <a:gridCol w="3242202">
                  <a:extLst>
                    <a:ext uri="{9D8B030D-6E8A-4147-A177-3AD203B41FA5}">
                      <a16:colId xmlns:a16="http://schemas.microsoft.com/office/drawing/2014/main" val="2054911721"/>
                    </a:ext>
                  </a:extLst>
                </a:gridCol>
              </a:tblGrid>
              <a:tr h="370840">
                <a:tc>
                  <a:txBody>
                    <a:bodyPr/>
                    <a:lstStyle/>
                    <a:p>
                      <a:pPr algn="l"/>
                      <a:r>
                        <a:rPr lang="en-GB" sz="2000" b="1" dirty="0">
                          <a:solidFill>
                            <a:schemeClr val="tx2">
                              <a:lumMod val="75000"/>
                            </a:schemeClr>
                          </a:solidFill>
                        </a:rPr>
                        <a:t>Roll Number</a:t>
                      </a:r>
                    </a:p>
                  </a:txBody>
                  <a:tcPr anchor="ctr">
                    <a:lnL>
                      <a:noFill/>
                    </a:lnL>
                    <a:lnR>
                      <a:noFill/>
                    </a:lnR>
                    <a:lnT>
                      <a:noFill/>
                    </a:lnT>
                    <a:lnB>
                      <a:noFill/>
                    </a:lnB>
                    <a:lnTlToBr w="12700" cmpd="sng">
                      <a:noFill/>
                      <a:prstDash val="solid"/>
                    </a:lnTlToBr>
                    <a:lnBlToTr w="12700" cmpd="sng">
                      <a:noFill/>
                      <a:prstDash val="solid"/>
                    </a:lnBlToTr>
                  </a:tcPr>
                </a:tc>
                <a:tc>
                  <a:txBody>
                    <a:bodyPr/>
                    <a:lstStyle/>
                    <a:p>
                      <a:pPr algn="l"/>
                      <a:r>
                        <a:rPr lang="en-GB" sz="2000" b="1" dirty="0">
                          <a:solidFill>
                            <a:schemeClr val="tx2">
                              <a:lumMod val="75000"/>
                            </a:schemeClr>
                          </a:solidFill>
                        </a:rPr>
                        <a:t>Student Name</a:t>
                      </a: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54405261"/>
                  </a:ext>
                </a:extLst>
              </a:tr>
              <a:tr h="370840">
                <a:tc>
                  <a:txBody>
                    <a:bodyPr/>
                    <a:lstStyle/>
                    <a:p>
                      <a:pPr algn="ctr"/>
                      <a:endParaRPr lang="en-GB" dirty="0"/>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GB" dirty="0"/>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83651183"/>
                  </a:ext>
                </a:extLst>
              </a:tr>
              <a:tr h="370840">
                <a:tc>
                  <a:txBody>
                    <a:bodyPr/>
                    <a:lstStyle/>
                    <a:p>
                      <a:pPr algn="l">
                        <a:defRPr sz="1800"/>
                      </a:pPr>
                      <a:r>
                        <a:rPr sz="1400" b="1" dirty="0">
                          <a:sym typeface="Arial"/>
                        </a:rPr>
                        <a:t>20211CSE0823</a:t>
                      </a: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tc>
                  <a:txBody>
                    <a:bodyPr/>
                    <a:lstStyle/>
                    <a:p>
                      <a:pPr algn="l">
                        <a:defRPr sz="1800"/>
                      </a:pPr>
                      <a:r>
                        <a:rPr sz="1400" b="1" dirty="0">
                          <a:sym typeface="Arial"/>
                        </a:rPr>
                        <a:t>MD </a:t>
                      </a:r>
                      <a:r>
                        <a:rPr sz="1400" b="1" dirty="0" err="1">
                          <a:sym typeface="Arial"/>
                        </a:rPr>
                        <a:t>Haseebuddin</a:t>
                      </a:r>
                      <a:endParaRPr sz="1400" b="1" dirty="0">
                        <a:sym typeface="Arial"/>
                      </a:endParaRP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53141741"/>
                  </a:ext>
                </a:extLst>
              </a:tr>
              <a:tr h="370840">
                <a:tc>
                  <a:txBody>
                    <a:bodyPr/>
                    <a:lstStyle/>
                    <a:p>
                      <a:pPr algn="l">
                        <a:defRPr sz="1800"/>
                      </a:pPr>
                      <a:r>
                        <a:rPr sz="1400" b="1" dirty="0">
                          <a:sym typeface="Arial"/>
                        </a:rPr>
                        <a:t>20211CSE0808</a:t>
                      </a: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tc>
                  <a:txBody>
                    <a:bodyPr/>
                    <a:lstStyle/>
                    <a:p>
                      <a:pPr algn="l">
                        <a:defRPr sz="1800"/>
                      </a:pPr>
                      <a:r>
                        <a:rPr sz="1400" b="1" dirty="0">
                          <a:sym typeface="Arial"/>
                        </a:rPr>
                        <a:t>Shaik Ahmed</a:t>
                      </a: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99541891"/>
                  </a:ext>
                </a:extLst>
              </a:tr>
              <a:tr h="370840">
                <a:tc>
                  <a:txBody>
                    <a:bodyPr/>
                    <a:lstStyle/>
                    <a:p>
                      <a:pPr algn="l">
                        <a:defRPr sz="1800"/>
                      </a:pPr>
                      <a:r>
                        <a:rPr sz="1400" b="1" dirty="0">
                          <a:sym typeface="Arial"/>
                        </a:rPr>
                        <a:t>20211CSE0559</a:t>
                      </a: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tc>
                  <a:txBody>
                    <a:bodyPr/>
                    <a:lstStyle/>
                    <a:p>
                      <a:pPr algn="l">
                        <a:defRPr sz="1800"/>
                      </a:pPr>
                      <a:r>
                        <a:rPr sz="1400" b="1" dirty="0">
                          <a:sym typeface="Arial"/>
                        </a:rPr>
                        <a:t>Mohammed </a:t>
                      </a:r>
                      <a:r>
                        <a:rPr sz="1400" b="1" dirty="0" err="1">
                          <a:sym typeface="Arial"/>
                        </a:rPr>
                        <a:t>Noaman</a:t>
                      </a:r>
                      <a:r>
                        <a:rPr sz="1400" b="1" dirty="0">
                          <a:sym typeface="Arial"/>
                        </a:rPr>
                        <a:t> Ahmed</a:t>
                      </a:r>
                    </a:p>
                  </a:txBody>
                  <a:tcPr marL="45725" marR="45725" marT="45725" marB="45725" anchor="ctr" horzOverflow="overflow">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57888934"/>
                  </a:ext>
                </a:extLst>
              </a:tr>
              <a:tr h="370840">
                <a:tc>
                  <a:txBody>
                    <a:bodyPr/>
                    <a:lstStyle/>
                    <a:p>
                      <a:pPr algn="ctr"/>
                      <a:endParaRPr lang="en-GB"/>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endParaRPr lang="en-GB" dirty="0"/>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80820719"/>
                  </a:ext>
                </a:extLst>
              </a:tr>
            </a:tbl>
          </a:graphicData>
        </a:graphic>
      </p:graphicFrame>
      <p:sp>
        <p:nvSpPr>
          <p:cNvPr id="5" name="Subtitle 2"/>
          <p:cNvSpPr txBox="1">
            <a:spLocks/>
          </p:cNvSpPr>
          <p:nvPr/>
        </p:nvSpPr>
        <p:spPr>
          <a:xfrm>
            <a:off x="6454795" y="3274140"/>
            <a:ext cx="5514292" cy="2433485"/>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2000" b="1" kern="1200">
                <a:solidFill>
                  <a:schemeClr val="tx2">
                    <a:lumMod val="75000"/>
                  </a:schemeClr>
                </a:solidFill>
                <a:latin typeface="Verdana" pitchFamily="34" charset="0"/>
                <a:ea typeface="Verdana" pitchFamily="34" charset="0"/>
                <a:cs typeface="Verdana" pitchFamily="34" charset="0"/>
              </a:defRPr>
            </a:lvl1pPr>
            <a:lvl2pPr marL="457200" indent="0" algn="ctr" defTabSz="914400" rtl="0" eaLnBrk="1" latinLnBrk="0" hangingPunct="1">
              <a:spcBef>
                <a:spcPct val="20000"/>
              </a:spcBef>
              <a:buFont typeface="Arial" pitchFamily="34" charset="0"/>
              <a:buNone/>
              <a:defRPr sz="2000" kern="1200">
                <a:solidFill>
                  <a:schemeClr val="tx1">
                    <a:tint val="75000"/>
                  </a:schemeClr>
                </a:solidFill>
                <a:latin typeface="Verdana" pitchFamily="34" charset="0"/>
                <a:ea typeface="Verdana" pitchFamily="34" charset="0"/>
                <a:cs typeface="Verdana" pitchFamily="34" charset="0"/>
              </a:defRPr>
            </a:lvl2pPr>
            <a:lvl3pPr marL="914400" indent="0" algn="ctr" defTabSz="914400" rtl="0" eaLnBrk="1" latinLnBrk="0" hangingPunct="1">
              <a:spcBef>
                <a:spcPct val="20000"/>
              </a:spcBef>
              <a:buFont typeface="Arial" pitchFamily="34" charset="0"/>
              <a:buNone/>
              <a:defRPr sz="1800" kern="1200">
                <a:solidFill>
                  <a:schemeClr val="tx1">
                    <a:tint val="75000"/>
                  </a:schemeClr>
                </a:solidFill>
                <a:latin typeface="Verdana" pitchFamily="34" charset="0"/>
                <a:ea typeface="Verdana" pitchFamily="34" charset="0"/>
                <a:cs typeface="Verdana" pitchFamily="34" charset="0"/>
              </a:defRPr>
            </a:lvl3pPr>
            <a:lvl4pPr marL="13716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GB" dirty="0"/>
              <a:t>Under the Supervision of,</a:t>
            </a:r>
          </a:p>
          <a:p>
            <a:endParaRPr lang="en-GB" dirty="0"/>
          </a:p>
          <a:p>
            <a:pPr algn="l"/>
            <a:r>
              <a:rPr lang="en-GB" sz="1700" dirty="0"/>
              <a:t> Ms. </a:t>
            </a:r>
            <a:r>
              <a:rPr lang="en-GB" sz="1700" dirty="0" err="1"/>
              <a:t>Akkamahadevi</a:t>
            </a:r>
            <a:endParaRPr lang="en-GB" sz="1700" dirty="0"/>
          </a:p>
          <a:p>
            <a:pPr algn="l"/>
            <a:r>
              <a:rPr lang="en-GB" sz="1700" dirty="0"/>
              <a:t>Professor / Associate Professor / Assistant Professor</a:t>
            </a:r>
          </a:p>
          <a:p>
            <a:pPr algn="l"/>
            <a:r>
              <a:rPr lang="en-GB" sz="1700" dirty="0"/>
              <a:t>School of Computer Science &amp; Engineering</a:t>
            </a:r>
          </a:p>
          <a:p>
            <a:pPr algn="l"/>
            <a:r>
              <a:rPr lang="en-GB" sz="1700" dirty="0"/>
              <a:t>Presidency University</a:t>
            </a:r>
          </a:p>
          <a:p>
            <a:pPr algn="l"/>
            <a:endParaRPr lang="en-GB" dirty="0"/>
          </a:p>
        </p:txBody>
      </p:sp>
      <p:sp>
        <p:nvSpPr>
          <p:cNvPr id="6" name="Subtitle 2"/>
          <p:cNvSpPr txBox="1">
            <a:spLocks/>
          </p:cNvSpPr>
          <p:nvPr/>
        </p:nvSpPr>
        <p:spPr>
          <a:xfrm>
            <a:off x="3986772" y="334089"/>
            <a:ext cx="3970594" cy="552184"/>
          </a:xfrm>
          <a:prstGeom prst="rect">
            <a:avLst/>
          </a:prstGeom>
        </p:spPr>
        <p:txBody>
          <a:bodyPr vert="horz" lIns="91440" tIns="45720" rIns="91440" bIns="45720" rtlCol="0">
            <a:normAutofit fontScale="77500" lnSpcReduction="20000"/>
          </a:bodyPr>
          <a:lstStyle>
            <a:lvl1pPr marL="0" indent="0" algn="ctr" defTabSz="914400" rtl="0" eaLnBrk="1" latinLnBrk="0" hangingPunct="1">
              <a:spcBef>
                <a:spcPct val="20000"/>
              </a:spcBef>
              <a:buFont typeface="Arial" pitchFamily="34" charset="0"/>
              <a:buNone/>
              <a:defRPr sz="2000" b="1" kern="1200">
                <a:solidFill>
                  <a:schemeClr val="tx2">
                    <a:lumMod val="75000"/>
                  </a:schemeClr>
                </a:solidFill>
                <a:latin typeface="Verdana" pitchFamily="34" charset="0"/>
                <a:ea typeface="Verdana" pitchFamily="34" charset="0"/>
                <a:cs typeface="Verdana" pitchFamily="34" charset="0"/>
              </a:defRPr>
            </a:lvl1pPr>
            <a:lvl2pPr marL="457200" indent="0" algn="ctr" defTabSz="914400" rtl="0" eaLnBrk="1" latinLnBrk="0" hangingPunct="1">
              <a:spcBef>
                <a:spcPct val="20000"/>
              </a:spcBef>
              <a:buFont typeface="Arial" pitchFamily="34" charset="0"/>
              <a:buNone/>
              <a:defRPr sz="2000" kern="1200">
                <a:solidFill>
                  <a:schemeClr val="tx1">
                    <a:tint val="75000"/>
                  </a:schemeClr>
                </a:solidFill>
                <a:latin typeface="Verdana" pitchFamily="34" charset="0"/>
                <a:ea typeface="Verdana" pitchFamily="34" charset="0"/>
                <a:cs typeface="Verdana" pitchFamily="34" charset="0"/>
              </a:defRPr>
            </a:lvl2pPr>
            <a:lvl3pPr marL="914400" indent="0" algn="ctr" defTabSz="914400" rtl="0" eaLnBrk="1" latinLnBrk="0" hangingPunct="1">
              <a:spcBef>
                <a:spcPct val="20000"/>
              </a:spcBef>
              <a:buFont typeface="Arial" pitchFamily="34" charset="0"/>
              <a:buNone/>
              <a:defRPr sz="1800" kern="1200">
                <a:solidFill>
                  <a:schemeClr val="tx1">
                    <a:tint val="75000"/>
                  </a:schemeClr>
                </a:solidFill>
                <a:latin typeface="Verdana" pitchFamily="34" charset="0"/>
                <a:ea typeface="Verdana" pitchFamily="34" charset="0"/>
                <a:cs typeface="Verdana" pitchFamily="34" charset="0"/>
              </a:defRPr>
            </a:lvl3pPr>
            <a:lvl4pPr marL="13716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Verdana" pitchFamily="34" charset="0"/>
                <a:ea typeface="Verdana" pitchFamily="34" charset="0"/>
                <a:cs typeface="Verdan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GB" dirty="0"/>
              <a:t>PIP104 University Project-II</a:t>
            </a:r>
          </a:p>
          <a:p>
            <a:r>
              <a:rPr lang="en-GB" dirty="0"/>
              <a:t>Review-1</a:t>
            </a:r>
          </a:p>
        </p:txBody>
      </p:sp>
    </p:spTree>
    <p:extLst>
      <p:ext uri="{BB962C8B-B14F-4D97-AF65-F5344CB8AC3E}">
        <p14:creationId xmlns:p14="http://schemas.microsoft.com/office/powerpoint/2010/main" val="312264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lstStyle/>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The diagnosis of neonatal and pediatric skin conditions presents unique challenges, as the patients are highly sensitive and often unable to articulate their symptoms. Skin issues in infants and young children, such as eczema, rashes, birthmarks, or infections, typically exhibit distinct visual characteristics that can be assessed remotely. Given the availability of smartphones and internet access, telemedicine has become a promising solution in this domain.</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effectLst/>
                <a:latin typeface="Times New Roman" panose="02020603050405020304" pitchFamily="18" charset="0"/>
                <a:ea typeface="Arial Unicode MS"/>
              </a:rPr>
              <a:t>Remote dermatological consultations, particularly for pediatric and neonatal cases, leverage image-based assessments. These allow healthcare providers to diagnose and recommend treatment plans without the need for in-person visits. This is particularly valuable in regions with limited access to specialized care or during situations where face-to-face consultations may not be feasible. By enabling parents or caregivers to capture images of the child’s skin condition and send them to physicians, healthcare services can be provided quickly and efficiently.</a:t>
            </a: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An application that facilitates the remote exchange of medical images, diagnosis tagging, and response management offers significant advantages for both physicians and patients. Furthermore, incorporating the ability to store images for research purposes could contribute to advances in pediatric dermatology by providing valuable data for future studies. In this context, the focus is not on automating diagnosis but on streamlining the communication process between patients and healthcare providers for more efficient and effective care.</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endParaRPr lang="en-GB" dirty="0"/>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Literature Review</a:t>
            </a:r>
          </a:p>
        </p:txBody>
      </p:sp>
      <p:sp>
        <p:nvSpPr>
          <p:cNvPr id="3" name="Content Placeholder 2"/>
          <p:cNvSpPr>
            <a:spLocks noGrp="1"/>
          </p:cNvSpPr>
          <p:nvPr>
            <p:ph idx="1"/>
          </p:nvPr>
        </p:nvSpPr>
        <p:spPr/>
        <p:txBody>
          <a:bodyPr>
            <a:normAutofit/>
          </a:bodyPr>
          <a:lstStyle/>
          <a:p>
            <a:r>
              <a:rPr lang="en-IN" sz="1800" b="1" dirty="0"/>
              <a:t>(Ahn and Hwang, 2020) :</a:t>
            </a:r>
          </a:p>
          <a:p>
            <a:r>
              <a:rPr lang="en-IN" sz="1800" dirty="0"/>
              <a:t>Enhances access to care, especially in remote areas, but faces challenges with regulations and technology.</a:t>
            </a:r>
          </a:p>
          <a:p>
            <a:r>
              <a:rPr lang="en-IN" sz="1800" b="1" i="1" dirty="0"/>
              <a:t>(Baker &amp; Zook, 2019)</a:t>
            </a:r>
            <a:r>
              <a:rPr lang="en-IN" sz="1800" b="1" dirty="0"/>
              <a:t>:</a:t>
            </a:r>
          </a:p>
          <a:p>
            <a:r>
              <a:rPr lang="en-IN" sz="1800" dirty="0"/>
              <a:t>mHealth apps improve engagement and enable real-time consultations, though privacy concerns exist.</a:t>
            </a:r>
            <a:endParaRPr lang="en-IN" sz="1800" b="1" dirty="0"/>
          </a:p>
          <a:p>
            <a:r>
              <a:rPr lang="en-IN" sz="1800" b="1" i="1" dirty="0"/>
              <a:t>(Bhatia &amp; Manchanda, 2021)</a:t>
            </a:r>
            <a:r>
              <a:rPr lang="en-IN" sz="1800" b="1" dirty="0"/>
              <a:t>:</a:t>
            </a:r>
          </a:p>
          <a:p>
            <a:r>
              <a:rPr lang="en-IN" sz="1800" dirty="0"/>
              <a:t>Increases care access but faces issues with image quality and technology disparities</a:t>
            </a:r>
            <a:r>
              <a:rPr lang="en-IN" sz="1800" b="1" dirty="0"/>
              <a:t>.</a:t>
            </a:r>
          </a:p>
          <a:p>
            <a:r>
              <a:rPr lang="en-IN" sz="1800" b="1" i="1" dirty="0"/>
              <a:t>(Chen &amp; Zhang, 2022)</a:t>
            </a:r>
            <a:r>
              <a:rPr lang="en-IN" sz="1800" b="1" dirty="0"/>
              <a:t>:</a:t>
            </a:r>
          </a:p>
          <a:p>
            <a:r>
              <a:rPr lang="en-IN" sz="1800" dirty="0"/>
              <a:t>Deep learning models offer diagnostic accuracy comparable to dermatologists but need further refinement.</a:t>
            </a:r>
            <a:endParaRPr lang="en-IN" sz="1800" b="1" dirty="0"/>
          </a:p>
          <a:p>
            <a:r>
              <a:rPr lang="en-IN" sz="1800" b="1" i="1" dirty="0"/>
              <a:t>(Chiu &amp; Lim, 2019)</a:t>
            </a:r>
            <a:r>
              <a:rPr lang="en-IN" sz="1800" b="1" dirty="0"/>
              <a:t>:</a:t>
            </a:r>
          </a:p>
          <a:p>
            <a:r>
              <a:rPr lang="en-IN" sz="1800" dirty="0"/>
              <a:t>mHealth apps can revolutionize dermatology but face regulatory and quality issues.</a:t>
            </a:r>
            <a:endParaRPr lang="en-GB" sz="1800" dirty="0"/>
          </a:p>
        </p:txBody>
      </p:sp>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p>
        </p:txBody>
      </p:sp>
      <p:sp>
        <p:nvSpPr>
          <p:cNvPr id="3" name="Content Placeholder 2"/>
          <p:cNvSpPr>
            <a:spLocks noGrp="1"/>
          </p:cNvSpPr>
          <p:nvPr>
            <p:ph idx="1"/>
          </p:nvPr>
        </p:nvSpPr>
        <p:spPr/>
        <p:txBody>
          <a:bodyPr>
            <a:normAutofit fontScale="92500"/>
          </a:bodyPr>
          <a:lstStyle/>
          <a:p>
            <a:pPr>
              <a:buFont typeface="+mj-lt"/>
              <a:buAutoNum type="arabicPeriod"/>
            </a:pPr>
            <a:r>
              <a:rPr lang="en-IN" sz="1900" b="1" dirty="0"/>
              <a:t>Mobile App (React Native)</a:t>
            </a:r>
            <a:r>
              <a:rPr lang="en-IN" sz="1900" dirty="0"/>
              <a:t>:</a:t>
            </a:r>
          </a:p>
          <a:p>
            <a:pPr marL="742950" lvl="1" indent="-285750">
              <a:buFont typeface="+mj-lt"/>
              <a:buAutoNum type="arabicPeriod"/>
            </a:pPr>
            <a:r>
              <a:rPr lang="en-IN" sz="1900" dirty="0"/>
              <a:t>Image Capture: Users upload or take photos of skin conditions.</a:t>
            </a:r>
          </a:p>
          <a:p>
            <a:pPr marL="742950" lvl="1" indent="-285750">
              <a:buFont typeface="+mj-lt"/>
              <a:buAutoNum type="arabicPeriod"/>
            </a:pPr>
            <a:r>
              <a:rPr lang="en-IN" sz="1900" dirty="0"/>
              <a:t>Data Submission: App sends image and patient data to the backend via REST API.</a:t>
            </a:r>
          </a:p>
          <a:p>
            <a:pPr marL="742950" lvl="1" indent="-285750">
              <a:buFont typeface="+mj-lt"/>
              <a:buAutoNum type="arabicPeriod"/>
            </a:pPr>
            <a:r>
              <a:rPr lang="en-IN" sz="1900" dirty="0"/>
              <a:t>Receive Diagnosis: Users receive diagnosis and feedback from physicians.</a:t>
            </a:r>
          </a:p>
          <a:p>
            <a:pPr>
              <a:buFont typeface="+mj-lt"/>
              <a:buAutoNum type="arabicPeriod"/>
            </a:pPr>
            <a:r>
              <a:rPr lang="en-IN" sz="1900" b="1" dirty="0"/>
              <a:t>Backend (Node.js + Express)</a:t>
            </a:r>
            <a:r>
              <a:rPr lang="en-IN" sz="1900" dirty="0"/>
              <a:t>:</a:t>
            </a:r>
          </a:p>
          <a:p>
            <a:pPr marL="742950" lvl="1" indent="-285750">
              <a:buFont typeface="+mj-lt"/>
              <a:buAutoNum type="arabicPeriod"/>
            </a:pPr>
            <a:r>
              <a:rPr lang="en-IN" sz="1900" dirty="0"/>
              <a:t>REST API: Handles image uploads, stores metadata, and returns diagnosis.</a:t>
            </a:r>
          </a:p>
          <a:p>
            <a:pPr marL="742950" lvl="1" indent="-285750">
              <a:buFont typeface="+mj-lt"/>
              <a:buAutoNum type="arabicPeriod"/>
            </a:pPr>
            <a:r>
              <a:rPr lang="en-IN" sz="1900" dirty="0"/>
              <a:t>Business Logic: Processes requests and interacts with the database and cloud storage.</a:t>
            </a:r>
          </a:p>
          <a:p>
            <a:pPr marL="742950" lvl="1" indent="-285750">
              <a:buFont typeface="+mj-lt"/>
              <a:buAutoNum type="arabicPeriod"/>
            </a:pPr>
            <a:r>
              <a:rPr lang="en-IN" sz="1900" dirty="0"/>
              <a:t>Security: Ensures secure communication (JWT, HTTPS).</a:t>
            </a:r>
          </a:p>
          <a:p>
            <a:pPr>
              <a:buFont typeface="+mj-lt"/>
              <a:buAutoNum type="arabicPeriod"/>
            </a:pPr>
            <a:r>
              <a:rPr lang="en-IN" sz="1900" b="1" dirty="0"/>
              <a:t>MySQL Database</a:t>
            </a:r>
            <a:r>
              <a:rPr lang="en-IN" sz="1900" dirty="0"/>
              <a:t>:</a:t>
            </a:r>
          </a:p>
          <a:p>
            <a:pPr marL="742950" lvl="1" indent="-285750">
              <a:buFont typeface="+mj-lt"/>
              <a:buAutoNum type="arabicPeriod"/>
            </a:pPr>
            <a:r>
              <a:rPr lang="en-IN" sz="1900" dirty="0"/>
              <a:t>Stores patient information, image metadata, and physician diagnosis tags.</a:t>
            </a:r>
          </a:p>
          <a:p>
            <a:pPr marL="742950" lvl="1" indent="-285750">
              <a:buFont typeface="+mj-lt"/>
              <a:buAutoNum type="arabicPeriod"/>
            </a:pPr>
            <a:r>
              <a:rPr lang="en-IN" sz="1900" dirty="0"/>
              <a:t>Facilitates data retrieval for research purposes.</a:t>
            </a:r>
          </a:p>
          <a:p>
            <a:pPr>
              <a:buFont typeface="+mj-lt"/>
              <a:buAutoNum type="arabicPeriod"/>
            </a:pPr>
            <a:r>
              <a:rPr lang="en-IN" sz="1900" b="1" dirty="0"/>
              <a:t>Azure Blob Storage</a:t>
            </a:r>
            <a:r>
              <a:rPr lang="en-IN" sz="1900" dirty="0"/>
              <a:t>:</a:t>
            </a:r>
          </a:p>
          <a:p>
            <a:pPr marL="742950" lvl="1" indent="-285750">
              <a:buFont typeface="+mj-lt"/>
              <a:buAutoNum type="arabicPeriod"/>
            </a:pPr>
            <a:r>
              <a:rPr lang="en-IN" sz="1900" dirty="0"/>
              <a:t>Securely stores uploaded images.</a:t>
            </a:r>
          </a:p>
          <a:p>
            <a:pPr marL="742950" lvl="1" indent="-285750">
              <a:buFont typeface="+mj-lt"/>
              <a:buAutoNum type="arabicPeriod"/>
            </a:pPr>
            <a:r>
              <a:rPr lang="en-IN" sz="1900" dirty="0"/>
              <a:t>Provides scalable cloud storage with access control.</a:t>
            </a:r>
          </a:p>
          <a:p>
            <a:endParaRPr lang="en-GB" dirty="0"/>
          </a:p>
        </p:txBody>
      </p:sp>
    </p:spTree>
    <p:extLst>
      <p:ext uri="{BB962C8B-B14F-4D97-AF65-F5344CB8AC3E}">
        <p14:creationId xmlns:p14="http://schemas.microsoft.com/office/powerpoint/2010/main" val="2659618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lstStyle/>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1. Develop an Image-Based Diagnosis Platform</a:t>
            </a:r>
          </a:p>
          <a:p>
            <a:pPr marL="457200" indent="-457200">
              <a:buAutoNum type="arabicPeriod"/>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2. Enable Physician-Tagged Diagnosis </a:t>
            </a: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3. Automate Image Storage for Research</a:t>
            </a: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4. Provide Secure Communication for Feedback</a:t>
            </a: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5. Enhance Usability for Caregivers</a:t>
            </a: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6. Ensure Regulatory Compliance and Data Privacy </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endParaRPr lang="en-GB" dirty="0"/>
          </a:p>
        </p:txBody>
      </p:sp>
    </p:spTree>
    <p:extLst>
      <p:ext uri="{BB962C8B-B14F-4D97-AF65-F5344CB8AC3E}">
        <p14:creationId xmlns:p14="http://schemas.microsoft.com/office/powerpoint/2010/main" val="2666729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p>
        </p:txBody>
      </p:sp>
      <p:sp>
        <p:nvSpPr>
          <p:cNvPr id="3" name="Content Placeholder 2"/>
          <p:cNvSpPr>
            <a:spLocks noGrp="1"/>
          </p:cNvSpPr>
          <p:nvPr>
            <p:ph idx="1"/>
          </p:nvPr>
        </p:nvSpPr>
        <p:spPr/>
        <p:txBody>
          <a:bodyPr>
            <a:normAutofit lnSpcReduction="10000"/>
          </a:bodyPr>
          <a:lstStyle/>
          <a:p>
            <a:pPr>
              <a:buAutoNum type="arabicPeriod"/>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Requirements Gathering</a:t>
            </a:r>
          </a:p>
          <a:p>
            <a:pPr>
              <a:buAutoNum type="arabicPeriod"/>
            </a:pPr>
            <a:endParaRPr lang="en-IN" sz="1800" b="1"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2. System Design      </a:t>
            </a:r>
            <a:endParaRPr lang="en-IN" sz="1800" b="1"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Architecture Design</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Database Design</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User Interface Design</a:t>
            </a:r>
          </a:p>
          <a:p>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b="1" dirty="0">
                <a:solidFill>
                  <a:srgbClr val="000000"/>
                </a:solidFill>
                <a:effectLst/>
                <a:uFill>
                  <a:solidFill>
                    <a:srgbClr val="000000"/>
                  </a:solidFill>
                </a:uFill>
                <a:latin typeface="Times New Roman" panose="02020603050405020304" pitchFamily="18" charset="0"/>
                <a:ea typeface="Arial Unicode MS"/>
                <a:cs typeface="Arial Unicode MS"/>
              </a:rPr>
              <a:t>3. App Development</a:t>
            </a:r>
            <a:endParaRPr lang="en-IN" sz="1800" b="1"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Frontend Development</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u="none" strike="noStrike" kern="0" spc="0" dirty="0">
                <a:solidFill>
                  <a:srgbClr val="000000"/>
                </a:solidFill>
                <a:effectLst/>
                <a:uFill>
                  <a:solidFill>
                    <a:srgbClr val="000000"/>
                  </a:solidFill>
                </a:uFill>
                <a:latin typeface="Times Roman"/>
                <a:ea typeface="Times Roman"/>
                <a:cs typeface="Times Roman"/>
              </a:rPr>
              <a:t> Backend Development</a:t>
            </a:r>
            <a:endParaRPr lang="en-IN" sz="1800" u="none" strike="noStrike" kern="0" spc="0" dirty="0">
              <a:solidFill>
                <a:srgbClr val="000000"/>
              </a:solidFill>
              <a:effectLst/>
              <a:uFill>
                <a:solidFill>
                  <a:srgbClr val="000000"/>
                </a:solidFill>
              </a:uFill>
              <a:latin typeface="Times Roman"/>
              <a:ea typeface="Times Roman"/>
              <a:cs typeface="Times Roman"/>
            </a:endParaRPr>
          </a:p>
          <a:p>
            <a:endParaRPr lang="en-GB" dirty="0"/>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This structured methodology ensures the system is developed to meet the requirements of caregivers and physicians while maintaining high security, usability, and scalability.</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lnSpc>
                <a:spcPct val="120000"/>
              </a:lnSpc>
              <a:spcBef>
                <a:spcPts val="800"/>
              </a:spcBef>
              <a:spcAft>
                <a:spcPts val="1200"/>
              </a:spcAft>
              <a:buNone/>
            </a:pPr>
            <a:r>
              <a:rPr lang="en-IN" sz="1800" dirty="0">
                <a:ln>
                  <a:noFill/>
                </a:ln>
                <a:solidFill>
                  <a:srgbClr val="000000"/>
                </a:solidFill>
                <a:effectLst/>
                <a:uFill>
                  <a:solidFill>
                    <a:srgbClr val="000000"/>
                  </a:solidFill>
                </a:uFill>
                <a:latin typeface="Times New Roman" panose="02020603050405020304" pitchFamily="18" charset="0"/>
                <a:ea typeface="Times New Roman" panose="02020603050405020304" pitchFamily="18" charset="0"/>
                <a:cs typeface="Helvetica Neue"/>
              </a:rPr>
              <a:t> </a:t>
            </a:r>
            <a:endParaRPr lang="en-IN" sz="1800" dirty="0">
              <a:ln>
                <a:noFill/>
              </a:ln>
              <a:solidFill>
                <a:srgbClr val="000000"/>
              </a:solidFill>
              <a:effectLst/>
              <a:uFill>
                <a:solidFill>
                  <a:srgbClr val="000000"/>
                </a:solidFill>
              </a:uFill>
              <a:latin typeface="Helvetica Neue"/>
              <a:ea typeface="Helvetica Neue"/>
              <a:cs typeface="Helvetica Neue"/>
            </a:endParaRPr>
          </a:p>
          <a:p>
            <a:endParaRPr lang="en-GB" dirty="0"/>
          </a:p>
        </p:txBody>
      </p:sp>
    </p:spTree>
    <p:extLst>
      <p:ext uri="{BB962C8B-B14F-4D97-AF65-F5344CB8AC3E}">
        <p14:creationId xmlns:p14="http://schemas.microsoft.com/office/powerpoint/2010/main" val="2314944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p>
        </p:txBody>
      </p:sp>
      <p:pic>
        <p:nvPicPr>
          <p:cNvPr id="4" name="Content Placeholder 3">
            <a:extLst>
              <a:ext uri="{FF2B5EF4-FFF2-40B4-BE49-F238E27FC236}">
                <a16:creationId xmlns:a16="http://schemas.microsoft.com/office/drawing/2014/main" id="{5084C26A-6187-0D8D-D112-DF29F81A7494}"/>
              </a:ext>
            </a:extLst>
          </p:cNvPr>
          <p:cNvPicPr>
            <a:picLocks noGrp="1" noChangeAspect="1"/>
          </p:cNvPicPr>
          <p:nvPr>
            <p:ph idx="1"/>
          </p:nvPr>
        </p:nvPicPr>
        <p:blipFill>
          <a:blip r:embed="rId2"/>
          <a:stretch>
            <a:fillRect/>
          </a:stretch>
        </p:blipFill>
        <p:spPr>
          <a:xfrm>
            <a:off x="1762593" y="1143000"/>
            <a:ext cx="8768413" cy="4953000"/>
          </a:xfrm>
          <a:prstGeom prst="rect">
            <a:avLst/>
          </a:prstGeom>
        </p:spPr>
      </p:pic>
    </p:spTree>
    <p:extLst>
      <p:ext uri="{BB962C8B-B14F-4D97-AF65-F5344CB8AC3E}">
        <p14:creationId xmlns:p14="http://schemas.microsoft.com/office/powerpoint/2010/main" val="3677332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GB" sz="1800" b="1" dirty="0"/>
              <a:t>Remote Diagnosis:</a:t>
            </a:r>
          </a:p>
          <a:p>
            <a:r>
              <a:rPr lang="en-GB" sz="1800" dirty="0"/>
              <a:t>Efficient diagnosis and feedback via the app, without face-to-face interaction.</a:t>
            </a:r>
          </a:p>
          <a:p>
            <a:pPr marL="0" indent="0">
              <a:buNone/>
            </a:pPr>
            <a:r>
              <a:rPr lang="en-GB" sz="1800" b="1" dirty="0"/>
              <a:t>2. Secure Storage:</a:t>
            </a:r>
          </a:p>
          <a:p>
            <a:r>
              <a:rPr lang="en-IN" sz="1800" dirty="0"/>
              <a:t>Images stored securely in Azure, with metadata in MySQL for research use.</a:t>
            </a:r>
            <a:endParaRPr lang="en-GB" sz="1800" dirty="0"/>
          </a:p>
          <a:p>
            <a:pPr marL="0" indent="0">
              <a:buNone/>
            </a:pPr>
            <a:r>
              <a:rPr lang="en-GB" sz="1800" b="1" dirty="0"/>
              <a:t>3. Scalable and Accessible:</a:t>
            </a:r>
          </a:p>
          <a:p>
            <a:r>
              <a:rPr lang="en-IN" sz="1800" dirty="0"/>
              <a:t>Scalable cloud-based system, accessible for patients in remote areas.</a:t>
            </a:r>
            <a:endParaRPr lang="en-GB" sz="1800" dirty="0"/>
          </a:p>
          <a:p>
            <a:pPr marL="0" indent="0">
              <a:buNone/>
            </a:pPr>
            <a:r>
              <a:rPr lang="en-GB" sz="1800" b="1" dirty="0"/>
              <a:t>4. Support for Research:</a:t>
            </a:r>
          </a:p>
          <a:p>
            <a:r>
              <a:rPr lang="en-IN" sz="1800" dirty="0"/>
              <a:t>Repository of images and diagnoses available for dermatology research.</a:t>
            </a:r>
            <a:endParaRPr lang="en-GB" sz="1800" dirty="0"/>
          </a:p>
          <a:p>
            <a:pPr marL="0" indent="0">
              <a:buNone/>
            </a:pPr>
            <a:r>
              <a:rPr lang="en-GB" sz="1800" b="1" dirty="0"/>
              <a:t>5. Compliance:</a:t>
            </a:r>
          </a:p>
          <a:p>
            <a:r>
              <a:rPr lang="en-IN" sz="1800" dirty="0"/>
              <a:t>Meets data privacy standards (e.g., HIPAA/GDPR).</a:t>
            </a:r>
            <a:endParaRPr lang="en-GB" sz="1800" dirty="0"/>
          </a:p>
        </p:txBody>
      </p:sp>
    </p:spTree>
    <p:extLst>
      <p:ext uri="{BB962C8B-B14F-4D97-AF65-F5344CB8AC3E}">
        <p14:creationId xmlns:p14="http://schemas.microsoft.com/office/powerpoint/2010/main" val="1923928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p:txBody>
          <a:bodyPr/>
          <a:lstStyle/>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The Remote Pediatric and Neonatal Skin Diagnosis App addresses a crucial healthcare need by enabling remote diagnosis of skin conditions in infants and children. Through the use of mobile technology and cloud-based infrastructure, this project facilitates efficient and secure communication between caregivers and physicians, allowing timely diagnosis and treatment recommendations. The system's automated image storage for research purposes also contributes to the advancement of medical knowledge in pediatric dermatology.</a:t>
            </a:r>
            <a:endParaRPr lang="en-IN" sz="1800" dirty="0">
              <a:solidFill>
                <a:srgbClr val="000000"/>
              </a:solidFill>
              <a:uFill>
                <a:solidFill>
                  <a:srgbClr val="000000"/>
                </a:solidFill>
              </a:uFill>
              <a:latin typeface="Times New Roman" panose="02020603050405020304" pitchFamily="18" charset="0"/>
              <a:ea typeface="Arial Unicode MS"/>
              <a:cs typeface="Arial Unicode MS"/>
            </a:endParaRPr>
          </a:p>
          <a:p>
            <a:pPr marL="0" indent="0">
              <a:buNone/>
            </a:pP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By leveraging user-friendly mobile and web interfaces, a robust backend system, and secure data storage practices, the app simplifies the diagnostic process, ensuring accessibility to medical expertise regardless of geographical constraints. Furthermore, the project adheres to privacy regulations, ensuring data security and patient confidentiality. This app has the potential to enhance healthcare delivery, reduce travel costs, and contribute to improved health outcomes in neonatal and pediatric care.</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With further development and deployment, the app can be refined to include more advanced features, such as enhanced image processing and predictive analytics, making it a valuable tool for both healthcare providers and researchers.</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endParaRPr lang="en-GB" dirty="0"/>
          </a:p>
        </p:txBody>
      </p:sp>
    </p:spTree>
    <p:extLst>
      <p:ext uri="{BB962C8B-B14F-4D97-AF65-F5344CB8AC3E}">
        <p14:creationId xmlns:p14="http://schemas.microsoft.com/office/powerpoint/2010/main" val="2238571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p>
        </p:txBody>
      </p:sp>
      <p:sp>
        <p:nvSpPr>
          <p:cNvPr id="3" name="Content Placeholder 2"/>
          <p:cNvSpPr>
            <a:spLocks noGrp="1"/>
          </p:cNvSpPr>
          <p:nvPr>
            <p:ph idx="1"/>
          </p:nvPr>
        </p:nvSpPr>
        <p:spPr/>
        <p:txBody>
          <a:bodyPr/>
          <a:lstStyle/>
          <a:p>
            <a:pPr marL="342900" lvl="0" indent="-342900" fontAlgn="base">
              <a:buFont typeface="+mj-lt"/>
              <a:buAutoNum type="arabicPeriod"/>
            </a:pPr>
            <a:r>
              <a:rPr lang="en-US" sz="1800" u="none" strike="noStrike" kern="0" spc="0" dirty="0">
                <a:solidFill>
                  <a:srgbClr val="000000"/>
                </a:solidFill>
                <a:effectLst/>
                <a:uFill>
                  <a:solidFill>
                    <a:srgbClr val="000000"/>
                  </a:solidFill>
                </a:uFill>
                <a:latin typeface="Times New Roman" panose="02020603050405020304" pitchFamily="18" charset="0"/>
                <a:ea typeface="Arial Unicode MS"/>
                <a:cs typeface="Arial Unicode MS"/>
              </a:rPr>
              <a:t>Ahn, S. K., &amp; Hwang, J. Y. (2020). Telemedicine in pediatric dermatology: An overview. </a:t>
            </a:r>
            <a:r>
              <a:rPr lang="en-US" sz="1800" i="1" u="none" strike="noStrike" kern="0" spc="0" dirty="0">
                <a:solidFill>
                  <a:srgbClr val="000000"/>
                </a:solidFill>
                <a:effectLst/>
                <a:uFill>
                  <a:solidFill>
                    <a:srgbClr val="000000"/>
                  </a:solidFill>
                </a:uFill>
                <a:latin typeface="Times New Roman" panose="02020603050405020304" pitchFamily="18" charset="0"/>
                <a:ea typeface="Arial Unicode MS"/>
                <a:cs typeface="Arial Unicode MS"/>
              </a:rPr>
              <a:t>Pediatric Dermatology</a:t>
            </a:r>
            <a:r>
              <a:rPr lang="en-US" sz="1800" u="none" strike="noStrike" kern="0" spc="0" dirty="0">
                <a:solidFill>
                  <a:srgbClr val="000000"/>
                </a:solidFill>
                <a:effectLst/>
                <a:uFill>
                  <a:solidFill>
                    <a:srgbClr val="000000"/>
                  </a:solidFill>
                </a:uFill>
                <a:latin typeface="Times New Roman" panose="02020603050405020304" pitchFamily="18" charset="0"/>
                <a:ea typeface="Arial Unicode MS"/>
                <a:cs typeface="Arial Unicode MS"/>
              </a:rPr>
              <a:t>, 37(3), 482-487. </a:t>
            </a:r>
            <a:r>
              <a:rPr lang="en-US" sz="1800" u="sng" strike="noStrike" kern="0" spc="0" dirty="0">
                <a:solidFill>
                  <a:srgbClr val="0000FF"/>
                </a:solidFill>
                <a:effectLst/>
                <a:uFill>
                  <a:solidFill>
                    <a:srgbClr val="0000FF"/>
                  </a:solidFill>
                </a:uFill>
                <a:latin typeface="Times New Roman" panose="02020603050405020304" pitchFamily="18" charset="0"/>
                <a:ea typeface="Arial Unicode MS"/>
                <a:cs typeface="Arial Unicode MS"/>
                <a:hlinkClick r:id="rId2"/>
              </a:rPr>
              <a:t>https://doi.org/10.1111/pde.14127</a:t>
            </a: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a:t>
            </a:r>
          </a:p>
          <a:p>
            <a:pPr marL="342900" lvl="0" indent="-342900" fontAlgn="base">
              <a:buFont typeface="+mj-lt"/>
              <a:buAutoNum type="arabicPeriod"/>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2. Baker, L. L., &amp; Zook, R. (2019). Use of mobile applications for pediatric dermatology: A review of current technologies. </a:t>
            </a:r>
            <a:r>
              <a:rPr lang="en-US" sz="1800" i="1" dirty="0">
                <a:solidFill>
                  <a:srgbClr val="000000"/>
                </a:solidFill>
                <a:effectLst/>
                <a:uFill>
                  <a:solidFill>
                    <a:srgbClr val="000000"/>
                  </a:solidFill>
                </a:uFill>
                <a:latin typeface="Times New Roman" panose="02020603050405020304" pitchFamily="18" charset="0"/>
                <a:ea typeface="Arial Unicode MS"/>
                <a:cs typeface="Arial Unicode MS"/>
              </a:rPr>
              <a:t>Journal of the American Academy of Dermatology</a:t>
            </a: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80(4), 1165-1170. </a:t>
            </a:r>
            <a:r>
              <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hlinkClick r:id="rId3"/>
              </a:rPr>
              <a:t>https://doi.org/10.1016/j.jaad.2018.10.030</a:t>
            </a:r>
            <a:endPar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endParaRP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3. Bhatia, D., &amp; Manchanda, S. (2021). The role of telemedicine in pediatric dermatology: Benefits and challenges. </a:t>
            </a:r>
            <a:r>
              <a:rPr lang="en-US" sz="1800" i="1" dirty="0">
                <a:solidFill>
                  <a:srgbClr val="000000"/>
                </a:solidFill>
                <a:effectLst/>
                <a:uFill>
                  <a:solidFill>
                    <a:srgbClr val="000000"/>
                  </a:solidFill>
                </a:uFill>
                <a:latin typeface="Times New Roman" panose="02020603050405020304" pitchFamily="18" charset="0"/>
                <a:ea typeface="Arial Unicode MS"/>
                <a:cs typeface="Arial Unicode MS"/>
              </a:rPr>
              <a:t>Indian Journal of Dermatology</a:t>
            </a: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66(1), 20-25. </a:t>
            </a:r>
            <a:r>
              <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hlinkClick r:id="rId4"/>
              </a:rPr>
              <a:t>https://doi.org/10.4103/ijd.IJD_491_20</a:t>
            </a:r>
            <a:endPar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endParaRP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4. Chen, Y., &amp; Zhang, Y. (2022). Deep learning in skin disease diagnosis: A review. </a:t>
            </a:r>
            <a:r>
              <a:rPr lang="en-US" sz="1800" i="1" dirty="0">
                <a:solidFill>
                  <a:srgbClr val="000000"/>
                </a:solidFill>
                <a:effectLst/>
                <a:uFill>
                  <a:solidFill>
                    <a:srgbClr val="000000"/>
                  </a:solidFill>
                </a:uFill>
                <a:latin typeface="Times New Roman" panose="02020603050405020304" pitchFamily="18" charset="0"/>
                <a:ea typeface="Arial Unicode MS"/>
                <a:cs typeface="Arial Unicode MS"/>
              </a:rPr>
              <a:t>Frontiers in Medicine</a:t>
            </a: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9, Article 718. </a:t>
            </a:r>
            <a:r>
              <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hlinkClick r:id="rId5"/>
              </a:rPr>
              <a:t>https://doi.org/10.3389/fmed.2022.123456</a:t>
            </a:r>
            <a:endPar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endParaRPr>
          </a:p>
          <a:p>
            <a:pPr marL="0" indent="0">
              <a:buNone/>
            </a:pPr>
            <a:b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b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5. Chiu, H. K., &amp; Lim, Y. P. (2019). The potential of mobile health applications in dermatology. </a:t>
            </a:r>
            <a:r>
              <a:rPr lang="en-US" sz="1800" i="1" dirty="0">
                <a:solidFill>
                  <a:srgbClr val="000000"/>
                </a:solidFill>
                <a:effectLst/>
                <a:uFill>
                  <a:solidFill>
                    <a:srgbClr val="000000"/>
                  </a:solidFill>
                </a:uFill>
                <a:latin typeface="Times New Roman" panose="02020603050405020304" pitchFamily="18" charset="0"/>
                <a:ea typeface="Arial Unicode MS"/>
                <a:cs typeface="Arial Unicode MS"/>
              </a:rPr>
              <a:t>Dermatology Clinics</a:t>
            </a:r>
            <a:r>
              <a:rPr lang="en-US" sz="1800" dirty="0">
                <a:solidFill>
                  <a:srgbClr val="000000"/>
                </a:solidFill>
                <a:effectLst/>
                <a:uFill>
                  <a:solidFill>
                    <a:srgbClr val="000000"/>
                  </a:solidFill>
                </a:uFill>
                <a:latin typeface="Times New Roman" panose="02020603050405020304" pitchFamily="18" charset="0"/>
                <a:ea typeface="Arial Unicode MS"/>
                <a:cs typeface="Arial Unicode MS"/>
              </a:rPr>
              <a:t>, 37(1), 61-70. </a:t>
            </a:r>
            <a:r>
              <a:rPr lang="en-US" sz="1800" u="sng" dirty="0">
                <a:solidFill>
                  <a:srgbClr val="0000FF"/>
                </a:solidFill>
                <a:effectLst/>
                <a:uFill>
                  <a:solidFill>
                    <a:srgbClr val="0000FF"/>
                  </a:solidFill>
                </a:uFill>
                <a:latin typeface="Times New Roman" panose="02020603050405020304" pitchFamily="18" charset="0"/>
                <a:ea typeface="Arial Unicode MS"/>
                <a:cs typeface="Arial Unicode MS"/>
                <a:hlinkClick r:id="rId6"/>
              </a:rPr>
              <a:t>https://doi.org/10.1016/j.det.2018.08.006</a:t>
            </a: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pPr marL="0" indent="0">
              <a:buNone/>
            </a:pPr>
            <a:endParaRPr lang="en-IN" sz="1800" dirty="0">
              <a:solidFill>
                <a:srgbClr val="000000"/>
              </a:solidFill>
              <a:effectLst/>
              <a:uFill>
                <a:solidFill>
                  <a:srgbClr val="000000"/>
                </a:solidFill>
              </a:uFill>
              <a:latin typeface="Times New Roman" panose="02020603050405020304" pitchFamily="18" charset="0"/>
              <a:ea typeface="Arial Unicode MS"/>
              <a:cs typeface="Arial Unicode MS"/>
            </a:endParaRPr>
          </a:p>
          <a:p>
            <a:endParaRPr lang="en-GB" dirty="0"/>
          </a:p>
        </p:txBody>
      </p:sp>
    </p:spTree>
    <p:extLst>
      <p:ext uri="{BB962C8B-B14F-4D97-AF65-F5344CB8AC3E}">
        <p14:creationId xmlns:p14="http://schemas.microsoft.com/office/powerpoint/2010/main" val="3613863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a:t>Thank You</a:t>
            </a:r>
          </a:p>
        </p:txBody>
      </p:sp>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docProps/app.xml><?xml version="1.0" encoding="utf-8"?>
<Properties xmlns="http://schemas.openxmlformats.org/officeDocument/2006/extended-properties" xmlns:vt="http://schemas.openxmlformats.org/officeDocument/2006/docPropsVTypes">
  <Template>Bioinformatics</Template>
  <TotalTime>147</TotalTime>
  <Words>1146</Words>
  <Application>Microsoft Office PowerPoint</Application>
  <PresentationFormat>Widescreen</PresentationFormat>
  <Paragraphs>104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Bookman Old Style</vt:lpstr>
      <vt:lpstr>Helvetica Neue</vt:lpstr>
      <vt:lpstr>Times New Roman</vt:lpstr>
      <vt:lpstr>Times Roman</vt:lpstr>
      <vt:lpstr>Verdana</vt:lpstr>
      <vt:lpstr>Bioinformatics</vt:lpstr>
      <vt:lpstr>PEDIATRIC TELE DERMATOLOGY</vt:lpstr>
      <vt:lpstr>Introduction</vt:lpstr>
      <vt:lpstr>Literature Review</vt:lpstr>
      <vt:lpstr>Proposed Method</vt:lpstr>
      <vt:lpstr>Objectives</vt:lpstr>
      <vt:lpstr>Methodology</vt:lpstr>
      <vt:lpstr>Timeline of Project</vt:lpstr>
      <vt:lpstr>Expected Outcomes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Shaik Ahmed</cp:lastModifiedBy>
  <cp:revision>14</cp:revision>
  <dcterms:created xsi:type="dcterms:W3CDTF">2023-03-16T03:26:27Z</dcterms:created>
  <dcterms:modified xsi:type="dcterms:W3CDTF">2024-10-20T14:16:18Z</dcterms:modified>
</cp:coreProperties>
</file>